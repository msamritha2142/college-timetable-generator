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1051560"/>
            <a:ext cx="10972800" cy="4251960"/>
          </a:xfrm>
          <a:prstGeom prst="roundRect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COLLEGE TIMETABLE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51460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DE1FF"/>
                </a:solidFill>
              </a:defRPr>
            </a:pPr>
            <a:r>
              <a:t>Generate conflict-free schedules using Graph Coloring, Greedy &amp; Backtracking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" y="3794760"/>
            <a:ext cx="2331720" cy="502920"/>
          </a:xfrm>
          <a:prstGeom prst="roundRect">
            <a:avLst/>
          </a:prstGeom>
          <a:solidFill>
            <a:srgbClr val="2D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DAA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30752" y="3794760"/>
            <a:ext cx="2331720" cy="502920"/>
          </a:xfrm>
          <a:prstGeom prst="roundRect">
            <a:avLst/>
          </a:prstGeom>
          <a:solidFill>
            <a:srgbClr val="31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SCHEDULING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3952" y="3794760"/>
            <a:ext cx="2331720" cy="502920"/>
          </a:xfrm>
          <a:prstGeom prst="roundRect">
            <a:avLst/>
          </a:prstGeom>
          <a:solidFill>
            <a:srgbClr val="3E9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CONFLICT-FREE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709160"/>
            <a:ext cx="20234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en-IN" sz="1600" dirty="0"/>
              <a:t>NAME</a:t>
            </a:r>
            <a:r>
              <a:rPr sz="1600" dirty="0"/>
              <a:t> </a:t>
            </a:r>
            <a:r>
              <a:rPr lang="en-IN" sz="1600" dirty="0"/>
              <a:t>: M SAMRITHA</a:t>
            </a:r>
            <a:r>
              <a:rPr sz="1600" dirty="0"/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2.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2"/>
                </a:solidFill>
                <a:latin typeface="Aptos"/>
              </a:defRPr>
            </a:pPr>
            <a:r>
              <a:t>Why college timetable scheduling is difficult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78608" cy="1874519"/>
          </a:xfrm>
          <a:prstGeom prst="roundRect">
            <a:avLst/>
          </a:prstGeom>
          <a:solidFill>
            <a:srgbClr val="F7F9FD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2D63BE"/>
                </a:solidFill>
                <a:latin typeface="Aptos"/>
              </a:defRPr>
            </a:pPr>
            <a:r>
              <a:t>Faculty Clashes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The same faculty member cannot teach two classes at the same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0712" y="1417320"/>
            <a:ext cx="2578608" cy="1874519"/>
          </a:xfrm>
          <a:prstGeom prst="roundRect">
            <a:avLst/>
          </a:prstGeom>
          <a:solidFill>
            <a:srgbClr val="F7F9FD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31A8B5"/>
                </a:solidFill>
                <a:latin typeface="Aptos"/>
              </a:defRPr>
            </a:pPr>
            <a:r>
              <a:t>Room Clashes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A room cannot be assigned to multiple classes in one period.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1417320"/>
            <a:ext cx="2578608" cy="1874519"/>
          </a:xfrm>
          <a:prstGeom prst="roundRect">
            <a:avLst/>
          </a:prstGeom>
          <a:solidFill>
            <a:srgbClr val="F7F9FD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EB8F37"/>
                </a:solidFill>
                <a:latin typeface="Aptos"/>
              </a:defRPr>
            </a:pPr>
            <a:r>
              <a:t>Batch Clashes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Students in the same batch should not have overlapping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3416" y="1417320"/>
            <a:ext cx="2578608" cy="1874519"/>
          </a:xfrm>
          <a:prstGeom prst="roundRect">
            <a:avLst/>
          </a:prstGeom>
          <a:solidFill>
            <a:srgbClr val="F7F9FD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3E9666"/>
                </a:solidFill>
                <a:latin typeface="Aptos"/>
              </a:defRPr>
            </a:pPr>
            <a:r>
              <a:t>Availability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Faculty, rooms and time slots have different availability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794760"/>
            <a:ext cx="9784080" cy="1097280"/>
          </a:xfrm>
          <a:prstGeom prst="roundRect">
            <a:avLst/>
          </a:prstGeom>
          <a:solidFill>
            <a:srgbClr val="F0F5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THE CORE QUESTION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How can we automatically assign classes to time slots and rooms while satisfying all constraints?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212080"/>
            <a:ext cx="2240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Subjects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5212080"/>
            <a:ext cx="2240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Faculty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5212080"/>
            <a:ext cx="2240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Rooms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5212080"/>
            <a:ext cx="2240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Time Slots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3. 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2"/>
                </a:solidFill>
                <a:latin typeface="Aptos"/>
              </a:defRPr>
            </a:pPr>
            <a:r>
              <a:t>The prototype makes algorithmic decisions visible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423160" cy="1508760"/>
          </a:xfrm>
          <a:prstGeom prst="roundRect">
            <a:avLst/>
          </a:prstGeom>
          <a:solidFill>
            <a:srgbClr val="F7F9FD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2D63BE"/>
                </a:solidFill>
                <a:latin typeface="Aptos"/>
              </a:defRPr>
            </a:pPr>
            <a:r>
              <a:t>Graph</a:t>
            </a:r>
            <a:br/>
            <a:r>
              <a:t>Coloring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Model conflicts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2167128"/>
            <a:ext cx="429768" cy="0"/>
          </a:xfrm>
          <a:prstGeom prst="line">
            <a:avLst/>
          </a:prstGeom>
          <a:ln w="27940">
            <a:solidFill>
              <a:srgbClr val="2D6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83280" y="1417320"/>
            <a:ext cx="2423160" cy="1508760"/>
          </a:xfrm>
          <a:prstGeom prst="roundRect">
            <a:avLst/>
          </a:prstGeom>
          <a:solidFill>
            <a:srgbClr val="F7F9FD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31A8B5"/>
                </a:solidFill>
                <a:latin typeface="Aptos"/>
              </a:defRPr>
            </a:pPr>
            <a:r>
              <a:t>Greedy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Fast initial assignment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06440" y="2167128"/>
            <a:ext cx="429768" cy="0"/>
          </a:xfrm>
          <a:prstGeom prst="line">
            <a:avLst/>
          </a:prstGeom>
          <a:ln w="27940">
            <a:solidFill>
              <a:srgbClr val="2D6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63640" y="1417320"/>
            <a:ext cx="2423160" cy="1508760"/>
          </a:xfrm>
          <a:prstGeom prst="roundRect">
            <a:avLst/>
          </a:prstGeom>
          <a:solidFill>
            <a:srgbClr val="F7F9FD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EB8F37"/>
                </a:solidFill>
                <a:latin typeface="Aptos"/>
              </a:defRPr>
            </a:pPr>
            <a:r>
              <a:t>Backtracking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Undo &amp; retry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0" y="2167128"/>
            <a:ext cx="429767" cy="0"/>
          </a:xfrm>
          <a:prstGeom prst="line">
            <a:avLst/>
          </a:prstGeom>
          <a:ln w="27940">
            <a:solidFill>
              <a:srgbClr val="2D6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0" y="1417320"/>
            <a:ext cx="2423160" cy="1508760"/>
          </a:xfrm>
          <a:prstGeom prst="roundRect">
            <a:avLst/>
          </a:prstGeom>
          <a:solidFill>
            <a:srgbClr val="F7F9FD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3E9666"/>
                </a:solidFill>
                <a:latin typeface="Aptos"/>
              </a:defRPr>
            </a:pPr>
            <a:r>
              <a:t>Validator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Check all 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429000"/>
            <a:ext cx="3429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Automatic generation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Create a timetable from entered resources.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429000"/>
            <a:ext cx="3429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Conflict detection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Show faculty, room and batch conflicts.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429000"/>
            <a:ext cx="3429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Decision log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Show which slot/resource was selected and why.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663440"/>
            <a:ext cx="3429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Algorithm comparison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Compare fast greedy choices with backtracking corrections.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663440"/>
            <a:ext cx="3429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Human-readable output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Display a clear timetable instead of only a score.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663440"/>
            <a:ext cx="3429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Expandable design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Ready for departments, labs and larger datasets.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4.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2"/>
                </a:solidFill>
                <a:latin typeface="Aptos"/>
              </a:defRPr>
            </a:pPr>
            <a:r>
              <a:t>Input → Processing → Algorithms →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965960" cy="1828800"/>
          </a:xfrm>
          <a:prstGeom prst="roundRect">
            <a:avLst/>
          </a:prstGeom>
          <a:solidFill>
            <a:srgbClr val="F7F9FD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2D63BE"/>
                </a:solidFill>
                <a:latin typeface="Aptos"/>
              </a:defRPr>
            </a:pPr>
            <a:r>
              <a:t>INPUT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Subjects</a:t>
            </a:r>
            <a:br/>
            <a:r>
              <a:t>Faculty</a:t>
            </a:r>
            <a:br/>
            <a:r>
              <a:t>Rooms</a:t>
            </a:r>
            <a:br/>
            <a:r>
              <a:t>Availability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2331720"/>
            <a:ext cx="338328" cy="0"/>
          </a:xfrm>
          <a:prstGeom prst="line">
            <a:avLst/>
          </a:prstGeom>
          <a:ln w="27940">
            <a:solidFill>
              <a:srgbClr val="2D6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0" y="1417320"/>
            <a:ext cx="1965960" cy="1828800"/>
          </a:xfrm>
          <a:prstGeom prst="roundRect">
            <a:avLst/>
          </a:prstGeom>
          <a:solidFill>
            <a:srgbClr val="F7F9FD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31A8B5"/>
                </a:solidFill>
                <a:latin typeface="Aptos"/>
              </a:defRPr>
            </a:pPr>
            <a:r>
              <a:t>CONFLICT GRAPH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Create nodes</a:t>
            </a:r>
            <a:br/>
            <a:r>
              <a:t>Connect clashes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09160" y="2331720"/>
            <a:ext cx="338328" cy="0"/>
          </a:xfrm>
          <a:prstGeom prst="line">
            <a:avLst/>
          </a:prstGeom>
          <a:ln w="27940">
            <a:solidFill>
              <a:srgbClr val="2D6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74920" y="1417320"/>
            <a:ext cx="1965960" cy="1828800"/>
          </a:xfrm>
          <a:prstGeom prst="roundRect">
            <a:avLst/>
          </a:prstGeom>
          <a:solidFill>
            <a:srgbClr val="F7F9FD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EB8F37"/>
                </a:solidFill>
                <a:latin typeface="Aptos"/>
              </a:defRPr>
            </a:pPr>
            <a:r>
              <a:t>GREEDY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Pick feasible</a:t>
            </a:r>
            <a:br/>
            <a:r>
              <a:t>slot/resource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40879" y="2331720"/>
            <a:ext cx="338329" cy="0"/>
          </a:xfrm>
          <a:prstGeom prst="line">
            <a:avLst/>
          </a:prstGeom>
          <a:ln w="27940">
            <a:solidFill>
              <a:srgbClr val="2D6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1417320"/>
            <a:ext cx="1965960" cy="1828800"/>
          </a:xfrm>
          <a:prstGeom prst="roundRect">
            <a:avLst/>
          </a:prstGeom>
          <a:solidFill>
            <a:srgbClr val="F7F9FD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EB8F37"/>
                </a:solidFill>
                <a:latin typeface="Aptos"/>
              </a:defRPr>
            </a:pPr>
            <a:r>
              <a:t>BACKTRACK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Undo invalid</a:t>
            </a:r>
            <a:br/>
            <a:r>
              <a:t>choices &amp; retry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72600" y="2331720"/>
            <a:ext cx="338328" cy="0"/>
          </a:xfrm>
          <a:prstGeom prst="line">
            <a:avLst/>
          </a:prstGeom>
          <a:ln w="27940">
            <a:solidFill>
              <a:srgbClr val="2D6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38359" y="1417320"/>
            <a:ext cx="1965960" cy="1828800"/>
          </a:xfrm>
          <a:prstGeom prst="roundRect">
            <a:avLst/>
          </a:prstGeom>
          <a:solidFill>
            <a:srgbClr val="F7F9FD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3E9666"/>
                </a:solidFill>
                <a:latin typeface="Aptos"/>
              </a:defRPr>
            </a:pPr>
            <a:r>
              <a:t>OUTPUT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Timetable</a:t>
            </a:r>
            <a:br/>
            <a:r>
              <a:t>+ conflict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10698480" cy="640080"/>
          </a:xfrm>
          <a:prstGeom prst="roundRect">
            <a:avLst/>
          </a:prstGeom>
          <a:solidFill>
            <a:srgbClr val="F0F5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USER JOURNEY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Enter data  →  Generate  →  Watch decisions  →  Inspect conflicts  →  View final timetable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983480"/>
            <a:ext cx="2834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3E9666"/>
                </a:solidFill>
                <a:latin typeface="Aptos"/>
              </a:defRPr>
            </a:pPr>
            <a:r>
              <a:t>Valid assignment?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Yes → keep choice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4983480"/>
            <a:ext cx="2834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EB8F37"/>
                </a:solidFill>
                <a:latin typeface="Aptos"/>
              </a:defRPr>
            </a:pPr>
            <a:r>
              <a:t>Conflict found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No → backtrack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983480"/>
            <a:ext cx="2834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2D63BE"/>
                </a:solidFill>
                <a:latin typeface="Aptos"/>
              </a:defRPr>
            </a:pPr>
            <a:r>
              <a:t>Try next option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Continue search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77639" y="5321808"/>
            <a:ext cx="594361" cy="0"/>
          </a:xfrm>
          <a:prstGeom prst="line">
            <a:avLst/>
          </a:prstGeom>
          <a:ln w="27940">
            <a:solidFill>
              <a:srgbClr val="2D6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98079" y="5321808"/>
            <a:ext cx="594361" cy="0"/>
          </a:xfrm>
          <a:prstGeom prst="line">
            <a:avLst/>
          </a:prstGeom>
          <a:ln w="27940">
            <a:solidFill>
              <a:srgbClr val="2D6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5. Technology &amp;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2"/>
                </a:solidFill>
                <a:latin typeface="Aptos"/>
              </a:defRPr>
            </a:pPr>
            <a:r>
              <a:t>Simple stack, clear algorithmic purpose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2D63BE"/>
                </a:solidFill>
                <a:latin typeface="Aptos"/>
              </a:defRPr>
            </a:pPr>
            <a:r>
              <a:t>Python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Algorithms &amp; 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2588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31A8B5"/>
                </a:solidFill>
                <a:latin typeface="Aptos"/>
              </a:defRPr>
            </a:pPr>
            <a:r>
              <a:t>Streamlit / Flask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Interactive web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EB8F37"/>
                </a:solidFill>
                <a:latin typeface="Aptos"/>
              </a:defRPr>
            </a:pPr>
            <a:r>
              <a:t>HTML / CSS / JS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Frontend if Flask is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132588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3E9666"/>
                </a:solidFill>
                <a:latin typeface="Aptos"/>
              </a:defRPr>
            </a:pPr>
            <a:r>
              <a:t>SQLite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Store subjects, rooms &amp; schedules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926080"/>
            <a:ext cx="3429000" cy="1828800"/>
          </a:xfrm>
          <a:prstGeom prst="roundRect">
            <a:avLst/>
          </a:prstGeom>
          <a:solidFill>
            <a:srgbClr val="F7F9FD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2D63BE"/>
                </a:solidFill>
                <a:latin typeface="Aptos"/>
              </a:defRPr>
            </a:pPr>
            <a:r>
              <a:t>GRAPH COLORING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Conflict graph: classes = nodes; time/resource choices = colors. Adjacent conflicts receive different colors.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26080"/>
            <a:ext cx="3429000" cy="1828800"/>
          </a:xfrm>
          <a:prstGeom prst="roundRect">
            <a:avLst/>
          </a:prstGeom>
          <a:solidFill>
            <a:srgbClr val="F7F9FD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31A8B5"/>
                </a:solidFill>
                <a:latin typeface="Aptos"/>
              </a:defRPr>
            </a:pPr>
            <a:r>
              <a:t>GREEDY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Select the best locally feasible slot according to a defined priority rule.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926080"/>
            <a:ext cx="3429000" cy="1828800"/>
          </a:xfrm>
          <a:prstGeom prst="roundRect">
            <a:avLst/>
          </a:prstGeom>
          <a:solidFill>
            <a:srgbClr val="F7F9FD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EB8F37"/>
                </a:solidFill>
                <a:latin typeface="Aptos"/>
              </a:defRPr>
            </a:pPr>
            <a:r>
              <a:t>BACKTRACKING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Build step-by-step; when a choice blocks completion, undo it and try another option.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5166360"/>
            <a:ext cx="9784080" cy="685800"/>
          </a:xfrm>
          <a:prstGeom prst="roundRect">
            <a:avLst/>
          </a:prstGeom>
          <a:solidFill>
            <a:srgbClr val="F0F5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COMPLEXITY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Greedy: typically O(V+E) for basic traversal  •  Backtracking: worst-case exponential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6. 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2"/>
                </a:solidFill>
                <a:latin typeface="Aptos"/>
              </a:defRPr>
            </a:pPr>
            <a:r>
              <a:t>Sample prototype output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6583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82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ROOM 101</a:t>
                      </a:r>
                    </a:p>
                  </a:txBody>
                  <a:tcPr>
                    <a:solidFill>
                      <a:srgbClr val="182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ROOM 102</a:t>
                      </a:r>
                    </a:p>
                  </a:txBody>
                  <a:tcPr>
                    <a:solidFill>
                      <a:srgbClr val="182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ROOM 103</a:t>
                      </a:r>
                    </a:p>
                  </a:txBody>
                  <a:tcPr>
                    <a:solidFill>
                      <a:srgbClr val="1827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A34"/>
                          </a:solidFill>
                        </a:defRPr>
                      </a:pPr>
                      <a:r>
                        <a:t>09:00–10:00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A34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A34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A34"/>
                          </a:solidFill>
                        </a:defRPr>
                      </a:pPr>
                      <a:r>
                        <a:t>Mathematics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A34"/>
                          </a:solidFill>
                        </a:defRPr>
                      </a:pPr>
                      <a:r>
                        <a:t>10:00–11:00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A34"/>
                          </a:solidFill>
                        </a:defRPr>
                      </a:pPr>
                      <a:r>
                        <a:t>DSA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A34"/>
                          </a:solidFill>
                        </a:defRPr>
                      </a:pPr>
                      <a:r>
                        <a:t>Web Development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A34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A34"/>
                          </a:solidFill>
                        </a:defRPr>
                      </a:pPr>
                      <a:r>
                        <a:t>11:00–12:00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A34"/>
                          </a:solidFill>
                        </a:defRPr>
                      </a:pPr>
                      <a:r>
                        <a:t>Mathematics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A34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A34"/>
                          </a:solidFill>
                        </a:defRPr>
                      </a:pPr>
                      <a:r>
                        <a:t>DSA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60920" y="1325880"/>
            <a:ext cx="4251960" cy="731520"/>
          </a:xfrm>
          <a:prstGeom prst="roundRect">
            <a:avLst/>
          </a:prstGeom>
          <a:solidFill>
            <a:srgbClr val="F0F5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3E9666"/>
                </a:solidFill>
                <a:latin typeface="Aptos"/>
              </a:defRPr>
            </a:pPr>
            <a:r>
              <a:t>CONFLICT CHECK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✓ Faculty  ✓ Room  ✓ Batch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2240280"/>
            <a:ext cx="4251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EB8F37"/>
                </a:solidFill>
                <a:latin typeface="Aptos"/>
              </a:defRPr>
            </a:pPr>
            <a:r>
              <a:t>ALGORITHM TRACE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Greedy assigns feasible slots → conflict detected → Backtracking changes the earlier choice → valid schedule found.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3520440"/>
            <a:ext cx="4251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2D63BE"/>
                </a:solidFill>
                <a:latin typeface="Aptos"/>
              </a:defRPr>
            </a:pPr>
            <a:r>
              <a:t>PRACTICAL BENEFITS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Less manual work • Faster generation • Easier modifications • Transparent decisions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09160"/>
            <a:ext cx="10881360" cy="868680"/>
          </a:xfrm>
          <a:prstGeom prst="roundRect">
            <a:avLst/>
          </a:prstGeom>
          <a:solidFill>
            <a:srgbClr val="F0F5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DEMO FLOW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Enter resources  →  Generate timetable  →  Show algorithm trace  →  Verify conflicts  →  Present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  <a:latin typeface="Aptos Display"/>
              </a:defRPr>
            </a:pPr>
            <a:r>
              <a:t>7. 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2"/>
                </a:solidFill>
                <a:latin typeface="Aptos"/>
              </a:defRPr>
            </a:pPr>
            <a:r>
              <a:t>From a prototype to a scalable college scheduling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166360" cy="685800"/>
          </a:xfrm>
          <a:prstGeom prst="roundRect">
            <a:avLst/>
          </a:prstGeom>
          <a:solidFill>
            <a:srgbClr val="F0F5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CURRENT ACHIEVEMENT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Input scheduling data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Conflict-aware generation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Algorithm decision log</a:t>
            </a:r>
          </a:p>
          <a:p>
            <a:pPr>
              <a:spcAft>
                <a:spcPts val="8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Final timetable &amp;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166360" cy="685800"/>
          </a:xfrm>
          <a:prstGeom prst="roundRect">
            <a:avLst/>
          </a:prstGeom>
          <a:solidFill>
            <a:srgbClr val="F0F5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18274B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5740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32A34"/>
                </a:solidFill>
                <a:latin typeface="Aptos"/>
              </a:defRPr>
            </a:pPr>
            <a:r>
              <a:t>• Faculty availability integration</a:t>
            </a:r>
          </a:p>
          <a:p>
            <a:pPr>
              <a:spcAft>
                <a:spcPts val="800"/>
              </a:spcAft>
              <a:defRPr sz="1250">
                <a:solidFill>
                  <a:srgbClr val="232A34"/>
                </a:solidFill>
                <a:latin typeface="Aptos"/>
              </a:defRPr>
            </a:pPr>
            <a:r>
              <a:t>• Lab &amp; multi-room constraints</a:t>
            </a:r>
          </a:p>
          <a:p>
            <a:pPr>
              <a:spcAft>
                <a:spcPts val="800"/>
              </a:spcAft>
              <a:defRPr sz="1250">
                <a:solidFill>
                  <a:srgbClr val="232A34"/>
                </a:solidFill>
                <a:latin typeface="Aptos"/>
              </a:defRPr>
            </a:pPr>
            <a:r>
              <a:t>• Multiple departments &amp; batches</a:t>
            </a:r>
          </a:p>
          <a:p>
            <a:pPr>
              <a:spcAft>
                <a:spcPts val="800"/>
              </a:spcAft>
              <a:defRPr sz="1250">
                <a:solidFill>
                  <a:srgbClr val="232A34"/>
                </a:solidFill>
                <a:latin typeface="Aptos"/>
              </a:defRPr>
            </a:pPr>
            <a:r>
              <a:t>• PDF / Excel export</a:t>
            </a:r>
          </a:p>
          <a:p>
            <a:pPr>
              <a:spcAft>
                <a:spcPts val="800"/>
              </a:spcAft>
              <a:defRPr sz="1250">
                <a:solidFill>
                  <a:srgbClr val="232A34"/>
                </a:solidFill>
                <a:latin typeface="Aptos"/>
              </a:defRPr>
            </a:pPr>
            <a:r>
              <a:t>• Cloud deployment</a:t>
            </a:r>
          </a:p>
          <a:p>
            <a:pPr>
              <a:spcAft>
                <a:spcPts val="800"/>
              </a:spcAft>
              <a:defRPr sz="1250">
                <a:solidFill>
                  <a:srgbClr val="232A34"/>
                </a:solidFill>
                <a:latin typeface="Aptos"/>
              </a:defRPr>
            </a:pPr>
            <a:r>
              <a:t>• Automatic re-scheduling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4846320"/>
            <a:ext cx="98755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500" b="1">
                <a:solidFill>
                  <a:srgbClr val="2D63BE"/>
                </a:solidFill>
                <a:latin typeface="Aptos"/>
              </a:defRPr>
            </a:pPr>
            <a:r>
              <a:t>SCALABILITY</a:t>
            </a:r>
          </a:p>
          <a:p>
            <a:pPr>
              <a:spcBef>
                <a:spcPts val="500"/>
              </a:spcBef>
              <a:defRPr sz="1050">
                <a:solidFill>
                  <a:srgbClr val="232A34"/>
                </a:solidFill>
                <a:latin typeface="Aptos"/>
              </a:defRPr>
            </a:pPr>
            <a:r>
              <a:t>Single class → Department → Multiple departments → Entire college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064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274B"/>
                </a:solidFill>
              </a:defRPr>
            </a:pPr>
            <a:r>
              <a:t>From complex constraints to a clear, conflict-free timetable using DAA.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2"/>
                </a:solidFill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4A7CFB-FB47-CF04-CEA1-4FA87D108ABE}"/>
              </a:ext>
            </a:extLst>
          </p:cNvPr>
          <p:cNvSpPr txBox="1"/>
          <p:nvPr/>
        </p:nvSpPr>
        <p:spPr>
          <a:xfrm>
            <a:off x="3674379" y="2759977"/>
            <a:ext cx="45636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3491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566</Words>
  <Application>Microsoft Office PowerPoint</Application>
  <PresentationFormat>Widescreen</PresentationFormat>
  <Paragraphs>133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Samritha M</cp:lastModifiedBy>
  <cp:revision>3</cp:revision>
  <dcterms:created xsi:type="dcterms:W3CDTF">2013-01-27T09:14:16Z</dcterms:created>
  <dcterms:modified xsi:type="dcterms:W3CDTF">2026-10-03T08:04:59Z</dcterms:modified>
  <cp:category/>
</cp:coreProperties>
</file>